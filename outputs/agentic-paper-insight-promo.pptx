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fc89c2ae034521" /><Relationship Type="http://schemas.openxmlformats.org/officeDocument/2006/relationships/extended-properties" Target="/docProps/app.xml" Id="Rb28789f964084017" /><Relationship Type="http://schemas.openxmlformats.org/officeDocument/2006/relationships/officeDocument" Target="/ppt/presentation.xml" Id="R6db1ca71ece943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176f0da70f4e99"/>
  </p:sldMasterIdLst>
  <p:notesMasterIdLst>
    <p:notesMasterId xmlns:r="http://schemas.openxmlformats.org/officeDocument/2006/relationships" r:id="R881d53fc57f84f44"/>
  </p:notesMasterIdLst>
  <p:sldIdLst>
    <p:sldId xmlns:r="http://schemas.openxmlformats.org/officeDocument/2006/relationships" id="256" r:id="R24917a50f2fa4e4c"/>
    <p:sldId xmlns:r="http://schemas.openxmlformats.org/officeDocument/2006/relationships" id="257" r:id="Rdaa61b0bc04341db"/>
    <p:sldId xmlns:r="http://schemas.openxmlformats.org/officeDocument/2006/relationships" id="258" r:id="R038e2c0471664613"/>
    <p:sldId xmlns:r="http://schemas.openxmlformats.org/officeDocument/2006/relationships" id="259" r:id="R13b76ebfa53a4d57"/>
    <p:sldId xmlns:r="http://schemas.openxmlformats.org/officeDocument/2006/relationships" id="260" r:id="Rcfc0f136cdc24dcf"/>
    <p:sldId xmlns:r="http://schemas.openxmlformats.org/officeDocument/2006/relationships" id="261" r:id="Rce6ca05d6fcf4062"/>
    <p:sldId xmlns:r="http://schemas.openxmlformats.org/officeDocument/2006/relationships" id="262" r:id="R7a2842faf0b34da4"/>
    <p:sldId xmlns:r="http://schemas.openxmlformats.org/officeDocument/2006/relationships" id="263" r:id="Rf5ec7b93d3004577"/>
    <p:sldId xmlns:r="http://schemas.openxmlformats.org/officeDocument/2006/relationships" id="264" r:id="R82e10b7c22264e3a"/>
    <p:sldId xmlns:r="http://schemas.openxmlformats.org/officeDocument/2006/relationships" id="265" r:id="Rb26283e73cef44d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8331910de84b2f" /><Relationship Type="http://schemas.openxmlformats.org/officeDocument/2006/relationships/slideMaster" Target="/ppt/slideMasters/slideMaster1.xml" Id="R0a176f0da70f4e99" /><Relationship Type="http://schemas.openxmlformats.org/officeDocument/2006/relationships/notesMaster" Target="/ppt/notesMasters/notesMaster1.xml" Id="R881d53fc57f84f44" /><Relationship Type="http://schemas.openxmlformats.org/officeDocument/2006/relationships/presProps" Target="/ppt/presProps.xml" Id="R745080ee774540bc" /><Relationship Type="http://schemas.openxmlformats.org/officeDocument/2006/relationships/tableStyles" Target="/ppt/tableStyles.xml" Id="R3ad020c58e5a4d65" /><Relationship Type="http://schemas.openxmlformats.org/officeDocument/2006/relationships/slide" Target="/ppt/slides/slide1.xml" Id="R24917a50f2fa4e4c" /><Relationship Type="http://schemas.openxmlformats.org/officeDocument/2006/relationships/slide" Target="/ppt/slides/slide2.xml" Id="Rdaa61b0bc04341db" /><Relationship Type="http://schemas.openxmlformats.org/officeDocument/2006/relationships/slide" Target="/ppt/slides/slide3.xml" Id="R038e2c0471664613" /><Relationship Type="http://schemas.openxmlformats.org/officeDocument/2006/relationships/slide" Target="/ppt/slides/slide4.xml" Id="R13b76ebfa53a4d57" /><Relationship Type="http://schemas.openxmlformats.org/officeDocument/2006/relationships/slide" Target="/ppt/slides/slide5.xml" Id="Rcfc0f136cdc24dcf" /><Relationship Type="http://schemas.openxmlformats.org/officeDocument/2006/relationships/slide" Target="/ppt/slides/slide6.xml" Id="Rce6ca05d6fcf4062" /><Relationship Type="http://schemas.openxmlformats.org/officeDocument/2006/relationships/slide" Target="/ppt/slides/slide7.xml" Id="R7a2842faf0b34da4" /><Relationship Type="http://schemas.openxmlformats.org/officeDocument/2006/relationships/slide" Target="/ppt/slides/slide8.xml" Id="Rf5ec7b93d3004577" /><Relationship Type="http://schemas.openxmlformats.org/officeDocument/2006/relationships/slide" Target="/ppt/slides/slide9.xml" Id="R82e10b7c22264e3a" /><Relationship Type="http://schemas.openxmlformats.org/officeDocument/2006/relationships/slide" Target="/ppt/slides/slide10.xml" Id="Rb26283e73cef44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5f9e52d1a24c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eaf2f63b90476d" /><Relationship Type="http://schemas.openxmlformats.org/officeDocument/2006/relationships/notesMaster" Target="/ppt/notesMasters/notesMaster1.xml" Id="R94d2e8171d5a46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3dce8d0d8f4ae1" /><Relationship Type="http://schemas.openxmlformats.org/officeDocument/2006/relationships/notesMaster" Target="/ppt/notesMasters/notesMaster1.xml" Id="Rc5eba51d309f41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423078b2e4448f" /><Relationship Type="http://schemas.openxmlformats.org/officeDocument/2006/relationships/notesMaster" Target="/ppt/notesMasters/notesMaster1.xml" Id="R77f3b3ff9ed347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f415755ebd41c1" /><Relationship Type="http://schemas.openxmlformats.org/officeDocument/2006/relationships/notesMaster" Target="/ppt/notesMasters/notesMaster1.xml" Id="R2db2631d9eee40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819d3f9e274e0c" /><Relationship Type="http://schemas.openxmlformats.org/officeDocument/2006/relationships/notesMaster" Target="/ppt/notesMasters/notesMaster1.xml" Id="R35a8012eed0543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067a38389f4989" /><Relationship Type="http://schemas.openxmlformats.org/officeDocument/2006/relationships/notesMaster" Target="/ppt/notesMasters/notesMaster1.xml" Id="Rbc8c9e78619a4d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be4c2554e7496d" /><Relationship Type="http://schemas.openxmlformats.org/officeDocument/2006/relationships/notesMaster" Target="/ppt/notesMasters/notesMaster1.xml" Id="R89248e2139974d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1e4c2d034e4fa6" /><Relationship Type="http://schemas.openxmlformats.org/officeDocument/2006/relationships/notesMaster" Target="/ppt/notesMasters/notesMaster1.xml" Id="Ra0718e0a915240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7e6884f9534578" /><Relationship Type="http://schemas.openxmlformats.org/officeDocument/2006/relationships/notesMaster" Target="/ppt/notesMasters/notesMaster1.xml" Id="Rd3bfdd5e3cb542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40bfa60eb2410b" /><Relationship Type="http://schemas.openxmlformats.org/officeDocument/2006/relationships/notesMaster" Target="/ppt/notesMasters/notesMaster1.xml" Id="R45d18ff6561944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5ac354648541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ad8bb11eb74ffe" /><Relationship Type="http://schemas.openxmlformats.org/officeDocument/2006/relationships/slideLayout" Target="/ppt/slideLayouts/slideLayout1.xml" Id="Rbc0d384289b547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0d384289b547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1b255259a4bff" /><Relationship Type="http://schemas.openxmlformats.org/officeDocument/2006/relationships/image" Target="/ppt/media/image.png" Id="R995fec5093df401d" /><Relationship Type="http://schemas.openxmlformats.org/officeDocument/2006/relationships/image" Target="/ppt/media/image2.png" Id="R8ff9c42ca81d45b7" /><Relationship Type="http://schemas.openxmlformats.org/officeDocument/2006/relationships/notesSlide" Target="/ppt/notesSlides/notesSlide1.xml" Id="R3222760142d84d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bb002a8004628" /><Relationship Type="http://schemas.openxmlformats.org/officeDocument/2006/relationships/notesSlide" Target="/ppt/notesSlides/notesSlide2.xml" Id="R2c42f5770d6342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b550c42cd49bb" /><Relationship Type="http://schemas.openxmlformats.org/officeDocument/2006/relationships/notesSlide" Target="/ppt/notesSlides/notesSlide3.xml" Id="Rcf008fcaa78b4e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3295b4835494e" /><Relationship Type="http://schemas.openxmlformats.org/officeDocument/2006/relationships/image" Target="/ppt/media/image3.png" Id="Rb771391caabe47ff" /><Relationship Type="http://schemas.openxmlformats.org/officeDocument/2006/relationships/image" Target="/ppt/media/image4.png" Id="Re939d88008454b8c" /><Relationship Type="http://schemas.openxmlformats.org/officeDocument/2006/relationships/notesSlide" Target="/ppt/notesSlides/notesSlide4.xml" Id="Rc67d6c2300eb4c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7c9ffccd94abc" /><Relationship Type="http://schemas.openxmlformats.org/officeDocument/2006/relationships/image" Target="/ppt/media/image5.png" Id="R555c87cf53a54099" /><Relationship Type="http://schemas.openxmlformats.org/officeDocument/2006/relationships/notesSlide" Target="/ppt/notesSlides/notesSlide5.xml" Id="Re150af79591e45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68300e6414b51" /><Relationship Type="http://schemas.openxmlformats.org/officeDocument/2006/relationships/image" Target="/ppt/media/image6.png" Id="Rb8ca3f9094634228" /><Relationship Type="http://schemas.openxmlformats.org/officeDocument/2006/relationships/notesSlide" Target="/ppt/notesSlides/notesSlide6.xml" Id="Rbc557f20e99f45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0dcab0c304c97" /><Relationship Type="http://schemas.openxmlformats.org/officeDocument/2006/relationships/image" Target="/ppt/media/image7.png" Id="R1a4cbe4212f5461d" /><Relationship Type="http://schemas.openxmlformats.org/officeDocument/2006/relationships/notesSlide" Target="/ppt/notesSlides/notesSlide7.xml" Id="R2b607d61628042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f4269c81f49c6" /><Relationship Type="http://schemas.openxmlformats.org/officeDocument/2006/relationships/image" Target="/ppt/media/image8.png" Id="R64f7838d22024021" /><Relationship Type="http://schemas.openxmlformats.org/officeDocument/2006/relationships/notesSlide" Target="/ppt/notesSlides/notesSlide8.xml" Id="R640717a15a1243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66053fdb246aa" /><Relationship Type="http://schemas.openxmlformats.org/officeDocument/2006/relationships/notesSlide" Target="/ppt/notesSlides/notesSlide9.xml" Id="Raa56453ac36843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9e0378eb1443d1" /><Relationship Type="http://schemas.openxmlformats.org/officeDocument/2006/relationships/notesSlide" Target="/ppt/notesSlides/notesSlide10.xml" Id="Ra5ff937079a549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0F6E3C-C4E9-40A3-AC43-C803FA19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0"/>
            <a:ext cx="542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21A02-9AFD-4054-A118-95E5D119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781050"/>
            <a:ext cx="5334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E2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5fec5093df401d"/>
          <a:srcRect xmlns:a="http://schemas.openxmlformats.org/drawingml/2006/main" l="0" t="41" r="0" b="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1300" y="838200"/>
            <a:ext cx="5219700" cy="2933700"/>
          </a:xfrm>
          <a:prstGeom xmlns:a="http://schemas.openxmlformats.org/drawingml/2006/main" prst="roundRect">
            <a:avLst>
              <a:gd name="adj" fmla="val 1948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583543-5622-4B12-B6F8-DB38EB86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67100"/>
            <a:ext cx="4210050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E2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9c42ca81d45b7"/>
          <a:srcRect xmlns:a="http://schemas.openxmlformats.org/drawingml/2006/main" l="26" t="0" r="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81850" y="3524250"/>
            <a:ext cx="4095750" cy="2305050"/>
          </a:xfrm>
          <a:prstGeom xmlns:a="http://schemas.openxmlformats.org/drawingml/2006/main" prst="roundRect">
            <a:avLst>
              <a:gd name="adj" fmla="val 247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36F0A-A948-4740-A93A-B60FB793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rPr>
              <a:t>AGENTIC PAPER INSIGHT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F5645E-2379-4843-BDBA-DA7C9BB2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5857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35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Agentic Paper Insight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35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研究情报引擎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CADA6-C2D0-4447-AA29-1C40E1FC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14325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面向 AI Agent / 网络自治研究，把 arXiv 增量同步、内部推荐列表、人工确认、证据评分和外部精选报告串成可视化 Agentic 流程。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93C13E-E623-4A9D-A1FD-4A01A160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434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0E2869-150E-4003-81CD-63296922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人机共控 / 全流程可视化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583281-64FF-446C-924B-F52011D3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9A1B34-1D0E-41A9-9A7B-8796A2F7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Agentic Paper Insight 宣传材料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8609AE-FECF-4FA7-8231-3496E263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890637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714AD8-7875-4461-8C50-BA5447D1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rPr>
              <a:t>为什么需要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3804A-576F-49D0-A23F-45249B6C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真正难点是让研究判断可控、可见、不漂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E08A9-D1F9-4A81-BB48-D50040EA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D4C35F-F6CD-4CD8-80F6-42851696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Agentic Paper Insight 宣传材料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4B3D0-98A4-4405-8F8F-03D1697B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C6F041-F306-476D-8474-F6D1B5AC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866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周期性研究情报最容易出问题的地方不在生成文字，而在候选、评分和取舍。全自动会快，但容易把方向相关、证据薄弱和重复结果混在一起。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E69F5-9483-4B09-8EB7-56722E63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5143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A44CE7-C21B-4485-9A49-56953AE0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痛点 1：最新性难保证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CCE95F-83C5-40E9-8E1A-EAE21337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81350"/>
            <a:ext cx="480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4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RSS 延迟、API 限流、重复记录和服务重启补同步，都会影响候选池的时间边界。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CB95F8-0E47-4396-907F-571A545D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90800"/>
            <a:ext cx="5143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601C95-EFAE-4A5F-A404-F4B4EBA1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6225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痛点 2：候选口径会漂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2B63C0-03DD-465D-BEB4-1650AB78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81350"/>
            <a:ext cx="480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1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同样叫 AI Agent / 网络自治，不同查询会拉来不同候选；没有确认环节，噪声会直接进入分析。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0378B4-E267-492E-A5BE-2AEB48E4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5143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5026A2-A3FB-4411-A1CD-60ACCE57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955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痛点 3：评分容易被主题带偏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74CF05-55E3-4645-8CE7-F0719958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38650"/>
            <a:ext cx="480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6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方向契合不等于研究质量高。只看单篇摘要，容易把概念包装误判为高价值。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EDC536-F051-4589-A294-5CD6968D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48100"/>
            <a:ext cx="5143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17A798-909B-4F95-843E-DA9F8E2F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1955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痛点 4：全自动流程不可见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710EA3-F150-4462-91CB-D24248D0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38650"/>
            <a:ext cx="480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68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长链路里一次错误会被后续放大。没有可视化状态和人工关口，就很难追问依据或中途纠偏。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8497DC-672E-4174-BBAD-F28BA71A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rPr>
              <a:t>设计取向：AI 批量处理和组织证据，人通过可视化流程把住候选、阈值、隐藏/推荐和最终发布。</a:t>
            </a:r>
          </a:p>
        </p:txBody>
      </p:sp>
    </p:spTree>
    <p:extLst>
      <p:ext uri="{BB962C8B-B14F-4D97-AF65-F5344CB8AC3E}">
        <p14:creationId xmlns:p14="http://schemas.microsoft.com/office/powerpoint/2010/main" val="16285834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B4B48F-EBC6-4C93-961B-C4FC2EB4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rPr>
              <a:t>系统流程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D07E7-BE26-416B-9BFD-03EF2F33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系统把研究判断串成可视化 Agentic 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80A63-92A7-4E76-A097-B6C08168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32C013-F602-4D62-BAFF-4D981821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Agentic Paper Insight 宣传材料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D6EB6D-3CBC-4D12-9935-4657E32B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9E942F-77A2-47F7-8F31-CB6291E1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15621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4E342-B654-4F7F-98B9-ED4BB906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3D977E-0A36-4BB0-A08A-274CAAEC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arXiv 同步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79A360-917C-41A3-9DE6-5A5BE222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RSS 自动入库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必要时 API 扩展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1C16C1-8BF3-4E96-B85D-C2B942DA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8194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CED9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ED9E2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7B6083-169C-460D-9E51-1469516E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190750"/>
            <a:ext cx="15621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5BCA25-A505-462A-9719-5A1A6155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3812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170651-F5D1-4BA4-B544-F7A1DBC0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设置查询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07D93D-010D-4FE9-885E-AB116065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20040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点选或手输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定义本轮主题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86F8DC-45C8-41D8-9615-58509321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194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CED9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ED9E2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1C13B9-C7F7-47EE-86C8-73EE9F3F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90750"/>
            <a:ext cx="15621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D5476C-F968-45E7-A44D-AF6E511A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812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B9B75D-D66E-417E-8595-0E2D2CAF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确认候选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6131C6-42C3-4ECB-B1A9-FC81FC39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0040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人工保留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要分析的论文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CE1F7F-079D-43F5-B948-1B875E99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8194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CED9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ED9E2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89165A-8C62-4237-B179-30DC9B64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190750"/>
            <a:ext cx="15621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9DD3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53DB9C-6A7C-4CE9-9F32-C04C0BAA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3812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B61A5B-B90A-4CEE-9CAD-B709C80B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AI 分析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6B4FAE-A6AC-49B3-B14B-079A7877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0040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四维评分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输出阅读建议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EB11A0-40C9-420C-A474-2D8C406C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194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CED9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ED9E2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44F775-EBBA-436C-A440-0DCBD92A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90750"/>
            <a:ext cx="15621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ACA397-3495-4B31-834C-E2DE5B6F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AF635F-8213-4A07-8711-78293E34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推荐列表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5704F5-BB06-40E8-A372-840DA1FD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0040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内部筛选层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排序/隐藏/详情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EED5D5-15AE-4E25-88BD-AB591E9E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8194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CED9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ED9E2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EC60C6-2CC1-40CC-92BB-3F4A77A4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190750"/>
            <a:ext cx="15621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D2EE24-AC90-49F0-9AE5-D7BF846D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3812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2B48EB-B79B-40B8-B0FE-18887ED2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精选报告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C70F52-3D9A-4A36-BCF9-007E439E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20040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外部发布层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复评后成稿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87CD2A-3D6B-45F3-A713-425A5E8A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4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两个结果层级：推荐列表用于内部筛选和复核；每周精选报告是外部发布层，只保留复评后真正入选的论文。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CBDAA3-41DE-4EDB-BEC9-33FA36F6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候选进入 AI 前由人确认，进入精选报告前再按阈值、保底数和原文复评结果把关。</a:t>
            </a:r>
          </a:p>
        </p:txBody>
      </p:sp>
    </p:spTree>
    <p:extLst>
      <p:ext uri="{BB962C8B-B14F-4D97-AF65-F5344CB8AC3E}">
        <p14:creationId xmlns:p14="http://schemas.microsoft.com/office/powerpoint/2010/main" val="7684022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C09123-C185-4036-B89F-8E710372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rPr>
              <a:t>怎么用 1/4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081336-1D12-4F8B-9F4F-7F544125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先配置 API 和查询口径，保证结果可控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7DF39-B598-406B-9198-59A8C79B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26B5F-73C8-4968-B61D-189EBE14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Agentic Paper Insight 宣传材料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B542D-D786-453D-B8F3-0D7AF7F3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6AEA77-BFF7-4D88-BCF5-A708315E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43050"/>
            <a:ext cx="5448300" cy="3114675"/>
          </a:xfrm>
          <a:prstGeom xmlns:a="http://schemas.openxmlformats.org/drawingml/2006/main" prst="roundRect">
            <a:avLst>
              <a:gd name="adj" fmla="val 24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E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71391caabe47f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1600200"/>
            <a:ext cx="5334000" cy="3000375"/>
          </a:xfrm>
          <a:prstGeom xmlns:a="http://schemas.openxmlformats.org/drawingml/2006/main" prst="roundRect">
            <a:avLst>
              <a:gd name="adj" fmla="val 190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3ED234-83B1-4343-B938-FA04145B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43050"/>
            <a:ext cx="5448300" cy="3114675"/>
          </a:xfrm>
          <a:prstGeom xmlns:a="http://schemas.openxmlformats.org/drawingml/2006/main" prst="roundRect">
            <a:avLst>
              <a:gd name="adj" fmla="val 24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E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39d88008454b8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600200"/>
            <a:ext cx="5334000" cy="3000375"/>
          </a:xfrm>
          <a:prstGeom xmlns:a="http://schemas.openxmlformats.org/drawingml/2006/main" prst="roundRect">
            <a:avLst>
              <a:gd name="adj" fmla="val 1905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13853F-DD56-4E44-8E43-22CB8CB7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API Key 只存当前浏览器会话，模型选择和 Key 管理集中在左上角设置。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A0621E-7310-4D1F-8018-7D81BD69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7680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查询条件支持点选和手工输入，适合把“默认主题”和“临时研究问题”分开管理。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773635-F18E-4803-9E6A-5DF63463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rPr>
              <a:t>推荐阈值、每轮候选数、最低达标数都在左侧控制，能适配扫读、重点跟踪和洞察输出三种强度。</a:t>
            </a:r>
          </a:p>
        </p:txBody>
      </p:sp>
    </p:spTree>
    <p:extLst>
      <p:ext uri="{BB962C8B-B14F-4D97-AF65-F5344CB8AC3E}">
        <p14:creationId xmlns:p14="http://schemas.microsoft.com/office/powerpoint/2010/main" val="8649190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28B3DD-7D7E-4E28-848C-4D1736AC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rPr>
              <a:t>怎么用 2/4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76F9C2-9C32-4BB5-8758-ED07FE7A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生成推荐列表前先确认候选，再交给 AI 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E3B5A-FFF2-42A7-84BA-17A041D9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5C44C-D5E1-491F-BF4F-26E0F3FB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Agentic Paper Insight 宣传材料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076A28-0B51-435B-89BD-7015C3B8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6855D0-4F17-4D8E-B864-E1AA9FB4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9DD3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FF62BE-EB7F-4CB8-9E68-10A7BB24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672AA5-FF3A-470E-94C3-4A757830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192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7A4E81-98A6-4D93-AB38-391C6D89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165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获取候选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ED242A-32EF-47A5-931B-BA74F077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76450"/>
            <a:ext cx="2266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从本地 arXiv 库读取，必要时用 arXiv API 扩展。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FDF907-4CCF-40A7-8885-F7D99AD0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9DD3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844AA8-A30F-4A83-BEC0-8B8B83DC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28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5D785F-9148-4995-9CC0-39023BAD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57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4E0777-4C2A-4CE9-B1E6-91ED6699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99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确认论文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E34EBB-F4EF-4085-8B9D-204B9417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14700"/>
            <a:ext cx="2266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取消明显不相关的候选，避免浪费模型调用。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4C7342-E9B2-4BE7-B47B-26D01D84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2F39CA-255A-4B97-9E96-C13E26A6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67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C330C2-21C0-487F-B3DA-FA0EA855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957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F8F7AF-906D-4DA6-B17F-FEA7810B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4815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继续分析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AA12A7-DAA1-4ED5-A4D0-A0F283C1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52950"/>
            <a:ext cx="2266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分析失败可从当前论文重试，已成功项不重复调用。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224B9D-CD83-43D8-8684-13713CBF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524000"/>
            <a:ext cx="7734300" cy="4400550"/>
          </a:xfrm>
          <a:prstGeom xmlns:a="http://schemas.openxmlformats.org/drawingml/2006/main" prst="roundRect">
            <a:avLst>
              <a:gd name="adj" fmla="val 17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E2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5c87cf53a5409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0" y="1581150"/>
            <a:ext cx="7620000" cy="4286250"/>
          </a:xfrm>
          <a:prstGeom xmlns:a="http://schemas.openxmlformats.org/drawingml/2006/main" prst="roundRect">
            <a:avLst>
              <a:gd name="adj" fmla="val 1333"/>
            </a:avLst>
          </a:prstGeom>
        </p:spPr>
      </p:pic>
    </p:spTree>
    <p:extLst>
      <p:ext uri="{BB962C8B-B14F-4D97-AF65-F5344CB8AC3E}">
        <p14:creationId xmlns:p14="http://schemas.microsoft.com/office/powerpoint/2010/main" val="12540010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9590AA-A3ED-4000-B731-1D99F7B2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rPr>
              <a:t>怎么用 3/4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4EF3D-EFAE-4657-A0A1-ACAA76CA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推荐列表是内部筛选层，不是最终报告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03C949-EFB2-4F07-B3A7-03390B88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F7D26-E181-412D-940D-462CBAEE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Agentic Paper Insight 宣传材料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389597-E51E-4EC4-9D8D-659D5401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1AB2A7-1F66-435A-A376-CCC2E178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371600"/>
            <a:ext cx="8115300" cy="4610100"/>
          </a:xfrm>
          <a:prstGeom xmlns:a="http://schemas.openxmlformats.org/drawingml/2006/main" prst="roundRect">
            <a:avLst>
              <a:gd name="adj" fmla="val 16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E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ca3f9094634228"/>
          <a:srcRect xmlns:a="http://schemas.openxmlformats.org/drawingml/2006/main" l="0" t="53" r="0" b="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14750" y="1428750"/>
            <a:ext cx="8001000" cy="4495800"/>
          </a:xfrm>
          <a:prstGeom xmlns:a="http://schemas.openxmlformats.org/drawingml/2006/main" prst="roundRect">
            <a:avLst>
              <a:gd name="adj" fmla="val 127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C65579-F793-492F-A9C7-4F4BFEFA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2667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9F16B8-B974-4F69-BAB1-FF1DE063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71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9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75D564-EFE3-4314-A6C4-60634E85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69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推荐 / 隐藏 / 全部分析，用来做内部取舍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EAF0DC-48D3-46E6-AEEA-55B92E06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2667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74F6FC-63F0-48A2-9A74-C3EF8EEA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71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9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F167A2-DE2A-4A61-8917-4BAE1B47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30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问题 / 方法 / 系统 / 证据，解释为什么排序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B6D313-54E1-4CA5-9613-B18F6DB6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2781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40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rPr>
              <a:t>定位：推荐列表面向研究团队，承载排序、隐藏、详情复核和继续分析，目标是帮人决定哪些论文进入精选报告。</a:t>
            </a:r>
          </a:p>
        </p:txBody>
      </p:sp>
    </p:spTree>
    <p:extLst>
      <p:ext uri="{BB962C8B-B14F-4D97-AF65-F5344CB8AC3E}">
        <p14:creationId xmlns:p14="http://schemas.microsoft.com/office/powerpoint/2010/main" val="20496937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112667-0F2A-41B4-8E95-C1B4FAEE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rPr>
              <a:t>怎么用 4/4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25FE04-A320-48F4-87EA-37D465FA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单篇详情帮助读者快速决定要不要深读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521D3-ACEC-4146-8B2A-E9989B24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3887D-1AA4-4BE7-B434-D860CFED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Agentic Paper Insight 宣传材料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16244-A993-4C11-B7F0-3C2F3C15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439813-2473-4FFE-9953-83BC63DB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371600"/>
            <a:ext cx="6953250" cy="39624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E2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4cbe4212f5461d"/>
          <a:srcRect xmlns:a="http://schemas.openxmlformats.org/drawingml/2006/main" l="15" t="0" r="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76800" y="1428750"/>
            <a:ext cx="6838950" cy="3848100"/>
          </a:xfrm>
          <a:prstGeom xmlns:a="http://schemas.openxmlformats.org/drawingml/2006/main" prst="roundRect">
            <a:avLst>
              <a:gd name="adj" fmla="val 148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385A99-6D43-40B1-BC66-BEFBB8B5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rPr>
              <a:t>方向适配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BCD89D-6E46-4EB0-BD17-2FDA6DE6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562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网络自治/电信、通用 AI、非目标领域分开校准。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7DA2AE-6FB5-44E2-AFD9-8A76B4FC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52650"/>
            <a:ext cx="373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C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81E8BB-98DA-4909-A2C5-34CFE578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764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背景与问题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DF1716-A015-474F-9634-DDC4CBEC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2764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快速看论文解决的痛点是否和本周主题一致。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7FE911-C413-4809-94C1-0B0F2631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67025"/>
            <a:ext cx="373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C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7E26B5-885D-45B5-85A7-304EA92E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方法与技术路线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406F82-D942-4427-8557-F44F7CD3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9908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关注机制、工具调用、闭环和系统边界。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84D0E7-7B64-4FA4-B657-62A6133D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1400"/>
            <a:ext cx="373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C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15A677-734F-4B32-8FFC-C11E20C9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052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贡献与证据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0F8243-07A4-4526-9D4D-5098F7B1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052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核验实验、基线、消融和结论边界。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F8BD0E-CB57-48EF-AE38-87DC52BE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95775"/>
            <a:ext cx="373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C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565563-8362-40CC-B308-DBEC11FE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价值与局限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C1A4E6-863B-4F8C-BEC5-04E1FD22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196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判断是否精读、复现或写入洞察稿</a:t>
            </a:r>
          </a:p>
        </p:txBody>
      </p:sp>
    </p:spTree>
    <p:extLst>
      <p:ext uri="{BB962C8B-B14F-4D97-AF65-F5344CB8AC3E}">
        <p14:creationId xmlns:p14="http://schemas.microsoft.com/office/powerpoint/2010/main" val="12049379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D81C1B-3500-403A-9881-783B808F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rPr>
              <a:t>发布输出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0618D-BCA8-44DB-8BF4-F4990655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每周精选报告是外部发布物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478AD-DE9B-4E3B-8CA0-F0719D4A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B6D3F-EE0B-4305-A1D2-53FCD806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Agentic Paper Insight 宣传材料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8009C7-9D84-4A52-8E6D-B5436B86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49E7B1-F6B7-475D-A89F-25AEF9CE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371600"/>
            <a:ext cx="7734300" cy="4400550"/>
          </a:xfrm>
          <a:prstGeom xmlns:a="http://schemas.openxmlformats.org/drawingml/2006/main" prst="roundRect">
            <a:avLst>
              <a:gd name="adj" fmla="val 17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E2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f7838d2202402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95750" y="1428750"/>
            <a:ext cx="7620000" cy="4286250"/>
          </a:xfrm>
          <a:prstGeom xmlns:a="http://schemas.openxmlformats.org/drawingml/2006/main" prst="roundRect">
            <a:avLst>
              <a:gd name="adj" fmla="val 1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D3F13-E583-4EEB-B945-3CB92FFC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3048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9DD3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20EC84-1BF2-41F2-AAF9-93C69C10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再次复评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4DA659-95AB-4D70-8DA9-671FB295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2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优先抓取 arXiv HTML 原文，失败时可降级为摘要和已有分析。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923513-887A-446D-9CFC-15B679A9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71800"/>
            <a:ext cx="3048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E3A977-9D72-4B7B-B2D8-44883029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只收精选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CD8F23-B6D5-4765-BD8B-4F81EF7D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6235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2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按入选阈值和保底篇数收口，推荐列表里的论文不会全部进入报告。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C5125-F7D9-4F6A-96E1-A875BA69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3048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D1EBDF-F93F-472A-A5EB-2B5ACB79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339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面向读者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F762E0-9799-49F5-AEFB-FF83F29B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4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生成 Markdown 后可复制或下载，重点讲为什么读、怎么读和局限在哪里。</a:t>
            </a:r>
          </a:p>
        </p:txBody>
      </p:sp>
    </p:spTree>
    <p:extLst>
      <p:ext uri="{BB962C8B-B14F-4D97-AF65-F5344CB8AC3E}">
        <p14:creationId xmlns:p14="http://schemas.microsoft.com/office/powerpoint/2010/main" val="4882028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2AF9A0-BC17-4819-937D-C2A844E1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rPr>
              <a:t>优势在哪里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2EA28A-41C9-40AA-B8CA-F907F97B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优势来自可视化的人机共控 Agentic 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A9C737-37EB-4D41-B928-AE4CA312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D1909B-B4EC-4E99-A3DE-F5F98260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Agentic Paper Insight 宣传材料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98656-474E-47C3-961F-52087174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D4137-EB4F-4032-BEA8-4CFE45BC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4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Agentic Paper Insight 把研究跟踪拆成可见、可控、可恢复的关口：机器负责同步、提取、评分和成稿，人负责方向、边界和最终判断。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3AA654-E810-4047-BCFE-777E02E5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85442-2F01-4E84-8E97-8013A0B9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840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优势 1：全流程可视化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49752D-441B-434D-A46D-2877C6DF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480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63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候选、确认、AI 分析、分数、详情和发布结果连续呈现，人能看见 Agent 走到哪一步、为什么这样判断。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A2F617-DA08-4E0E-B98D-85BB4F92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203E82-4B1D-473A-9D74-576CC6B5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3840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优势 2：人工参与是设计亮点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DE21B9-1135-4B61-9948-BC9C0772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480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63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候选确认、阈值调整、隐藏/推荐和阅读清单发布都留给人决策；Agent Loop 提供证据和建议。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660EB0-8F61-4D02-8EF7-DFF935CA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D0C430-4899-45D7-BC02-99B1EC1B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9095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优势 3：评分和横向校准更硬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89AC71-2F88-422D-98EF-4B06DB76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480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63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四维质量评分与兴趣适配分离，同批候选再比较新意、证据和系统价值，避免“方向像”替代“质量高”。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3037A9-C6AA-45CF-AF9A-F56DB4F1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9DD3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CA4F59-AB5E-457D-94D1-B7384629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9095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优势 4：长链路更稳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AC7F73-8241-4658-88D9-5AFE3F00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10050"/>
            <a:ext cx="480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63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增量同步、请求队列、429 冷却、失败续跑和 fallback 保底，让 Agentic 流程可恢复、可追踪。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10C768-17C2-4DD0-9242-4ADFCBE0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0839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031B3D-DAC4-4CBB-B932-E34F5413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30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7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Agentic 价值 = AI 扩展处理半径 + 全流程可视化 + 人在关键关口接管。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系统不是替人做最终判断，而是把判断依据准备到足够清楚。</a:t>
            </a:r>
          </a:p>
        </p:txBody>
      </p:sp>
    </p:spTree>
    <p:extLst>
      <p:ext uri="{BB962C8B-B14F-4D97-AF65-F5344CB8AC3E}">
        <p14:creationId xmlns:p14="http://schemas.microsoft.com/office/powerpoint/2010/main" val="9908699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5BEDAA-D2CC-45D9-92B7-3FF3AD30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5E72"/>
                </a:solidFill>
                <a:latin typeface="Microsoft YaHei"/>
                <a:ea typeface="Microsoft YaHei"/>
                <a:cs typeface="Microsoft YaHei"/>
              </a:rPr>
              <a:t>未来优化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08974-437F-43D1-977A-14AB7104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从研究情报引擎扩展到团队 Agentic 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8F3767-2CB4-498F-98AF-22088A1D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下一步不只是增加功能按钮，而是把论文跟踪、质量判断、团队协作和知识沉淀做成更完整的长期能力。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B6EA2-EBB3-4113-B421-AB0F191E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3390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7"/>
          </a:solidFill>
          <a:ln xmlns:a="http://schemas.openxmlformats.org/drawingml/2006/main" w="9525">
            <a:solidFill>
              <a:srgbClr val="9DD3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35F3BD-35BA-4A40-BDFF-C3E50665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更强 Agent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97DC84-ABC7-4AB5-A17F-051BB2D7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把证据抽取、单篇复评、横向校准、成稿和 QA 做成可观察步骤，支持中间结果缓存和失败恢复。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FE6980-6F6E-414C-A8CC-486AFA34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09800"/>
            <a:ext cx="3390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3B3B7C-6FFA-49D6-96DA-2796AAC9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812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趋势雷达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ABA3ED-E3BC-4510-AAA9-FFE13187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003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按主题、作者、机构和关键词聚类，持续追踪方向升温、交叉主题和异常高价值论文。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60D023-EC93-44D7-827A-5059CD6D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09800"/>
            <a:ext cx="3390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F5325-07CA-4F63-AE57-EEE06B2C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团队协同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4757A9-C9F5-4B65-BD8B-A72ADCB1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003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支持多人标注、评论、收藏、入选理由和评分口径版本，让人工参与沉淀为团队资产。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A9E710-C294-4588-B7E1-928C7722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52850"/>
            <a:ext cx="5143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C35EDC-A1C6-4B8C-B8E6-93D432A5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发布连接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45EBF6-D04D-4860-9741-A09AAEC9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4800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63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对接洞察网站、飞书 / Notion / Git 等发布流，输出模板化 Markdown 和历史精选合集。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62B8C8-7F41-425B-8419-A606873B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52850"/>
            <a:ext cx="5143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633F4D-E1F1-4BE6-9E48-00D90062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71321"/>
                </a:solidFill>
                <a:latin typeface="Microsoft YaHei"/>
                <a:ea typeface="Microsoft YaHei"/>
                <a:cs typeface="Microsoft YaHei"/>
              </a:rPr>
              <a:t>质量治理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D01AB9-9EAB-404F-B54E-99D91197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43400"/>
            <a:ext cx="4800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63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跟踪模型、提示词版本、评分一致性、成本和人工审核记录，让推荐质量可评估、可回滚。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253721-74D0-458D-8181-ACED0E04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0839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62B835-80B9-4EB9-8B0B-105C0A71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91150"/>
            <a:ext cx="1022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未来方向：让系统从“帮人看一批论文”，升级为“持续维护一个可解释、可协作、可发布的研究情报流”。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C3A15D-91CE-420A-8A36-3F6094D5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0099FB-0A53-424A-8115-D480261B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Agentic Paper Insight 宣传材料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E6BEC5-AA04-46E1-B4A3-BCA18887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57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567329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2026-07-25T03:51:49.2660000Z</dcterms:created>
  <dcterms:modified xsi:type="dcterms:W3CDTF">2026-07-25T03:51:49.2660000Z</dcterms:modified>
</coreProperties>
</file>