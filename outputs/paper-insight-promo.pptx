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dbf8277db4040" /><Relationship Type="http://schemas.openxmlformats.org/officeDocument/2006/relationships/extended-properties" Target="/docProps/app.xml" Id="R06fdfef689914b76" /><Relationship Type="http://schemas.openxmlformats.org/officeDocument/2006/relationships/officeDocument" Target="/ppt/presentation.xml" Id="Rf6bdb3749be1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f0ceac4a4e4ee0"/>
  </p:sldMasterIdLst>
  <p:notesMasterIdLst>
    <p:notesMasterId xmlns:r="http://schemas.openxmlformats.org/officeDocument/2006/relationships" r:id="Rfad94da715d9463a"/>
  </p:notesMasterIdLst>
  <p:sldIdLst>
    <p:sldId xmlns:r="http://schemas.openxmlformats.org/officeDocument/2006/relationships" id="256" r:id="R7ab98dea5e1b489f"/>
    <p:sldId xmlns:r="http://schemas.openxmlformats.org/officeDocument/2006/relationships" id="257" r:id="R90ac574cd2e34ccf"/>
    <p:sldId xmlns:r="http://schemas.openxmlformats.org/officeDocument/2006/relationships" id="258" r:id="R2c17cf617aa34bf0"/>
    <p:sldId xmlns:r="http://schemas.openxmlformats.org/officeDocument/2006/relationships" id="259" r:id="R774d6fce0b5b4415"/>
    <p:sldId xmlns:r="http://schemas.openxmlformats.org/officeDocument/2006/relationships" id="260" r:id="R4535424b46b3406b"/>
    <p:sldId xmlns:r="http://schemas.openxmlformats.org/officeDocument/2006/relationships" id="261" r:id="R36009fde122b44b9"/>
    <p:sldId xmlns:r="http://schemas.openxmlformats.org/officeDocument/2006/relationships" id="262" r:id="R3897718fde654796"/>
    <p:sldId xmlns:r="http://schemas.openxmlformats.org/officeDocument/2006/relationships" id="263" r:id="R302098f3b2d644a3"/>
    <p:sldId xmlns:r="http://schemas.openxmlformats.org/officeDocument/2006/relationships" id="264" r:id="Rfa219cb715f848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d4f9699759416f" /><Relationship Type="http://schemas.openxmlformats.org/officeDocument/2006/relationships/slideMaster" Target="/ppt/slideMasters/slideMaster1.xml" Id="Re4f0ceac4a4e4ee0" /><Relationship Type="http://schemas.openxmlformats.org/officeDocument/2006/relationships/notesMaster" Target="/ppt/notesMasters/notesMaster1.xml" Id="Rfad94da715d9463a" /><Relationship Type="http://schemas.openxmlformats.org/officeDocument/2006/relationships/presProps" Target="/ppt/presProps.xml" Id="Rf7a2f6d5b7b540bc" /><Relationship Type="http://schemas.openxmlformats.org/officeDocument/2006/relationships/tableStyles" Target="/ppt/tableStyles.xml" Id="R5d89598d7ca6470d" /><Relationship Type="http://schemas.openxmlformats.org/officeDocument/2006/relationships/slide" Target="/ppt/slides/slide1.xml" Id="R7ab98dea5e1b489f" /><Relationship Type="http://schemas.openxmlformats.org/officeDocument/2006/relationships/slide" Target="/ppt/slides/slide2.xml" Id="R90ac574cd2e34ccf" /><Relationship Type="http://schemas.openxmlformats.org/officeDocument/2006/relationships/slide" Target="/ppt/slides/slide3.xml" Id="R2c17cf617aa34bf0" /><Relationship Type="http://schemas.openxmlformats.org/officeDocument/2006/relationships/slide" Target="/ppt/slides/slide4.xml" Id="R774d6fce0b5b4415" /><Relationship Type="http://schemas.openxmlformats.org/officeDocument/2006/relationships/slide" Target="/ppt/slides/slide5.xml" Id="R4535424b46b3406b" /><Relationship Type="http://schemas.openxmlformats.org/officeDocument/2006/relationships/slide" Target="/ppt/slides/slide6.xml" Id="R36009fde122b44b9" /><Relationship Type="http://schemas.openxmlformats.org/officeDocument/2006/relationships/slide" Target="/ppt/slides/slide7.xml" Id="R3897718fde654796" /><Relationship Type="http://schemas.openxmlformats.org/officeDocument/2006/relationships/slide" Target="/ppt/slides/slide8.xml" Id="R302098f3b2d644a3" /><Relationship Type="http://schemas.openxmlformats.org/officeDocument/2006/relationships/slide" Target="/ppt/slides/slide9.xml" Id="Rfa219cb715f848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468ca93530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7e99a111bf41b2" /><Relationship Type="http://schemas.openxmlformats.org/officeDocument/2006/relationships/notesMaster" Target="/ppt/notesMasters/notesMaster1.xml" Id="R87db55d1980f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fb6f97bab440e0" /><Relationship Type="http://schemas.openxmlformats.org/officeDocument/2006/relationships/notesMaster" Target="/ppt/notesMasters/notesMaster1.xml" Id="R5644df77d20541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ed0766eed14012" /><Relationship Type="http://schemas.openxmlformats.org/officeDocument/2006/relationships/notesMaster" Target="/ppt/notesMasters/notesMaster1.xml" Id="Rf6d00db32fa049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ba18b10fe04882" /><Relationship Type="http://schemas.openxmlformats.org/officeDocument/2006/relationships/notesMaster" Target="/ppt/notesMasters/notesMaster1.xml" Id="R3199279c86f346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e291a7da2a40a3" /><Relationship Type="http://schemas.openxmlformats.org/officeDocument/2006/relationships/notesMaster" Target="/ppt/notesMasters/notesMaster1.xml" Id="Rb7cc40629cd84b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d5094c781d435e" /><Relationship Type="http://schemas.openxmlformats.org/officeDocument/2006/relationships/notesMaster" Target="/ppt/notesMasters/notesMaster1.xml" Id="Ra3c03dc138e9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32fe415b1c4d4e" /><Relationship Type="http://schemas.openxmlformats.org/officeDocument/2006/relationships/notesMaster" Target="/ppt/notesMasters/notesMaster1.xml" Id="Ra5e771945936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d0b9a5d4404c0e" /><Relationship Type="http://schemas.openxmlformats.org/officeDocument/2006/relationships/notesMaster" Target="/ppt/notesMasters/notesMaster1.xml" Id="R89761745da6749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625218f9874538" /><Relationship Type="http://schemas.openxmlformats.org/officeDocument/2006/relationships/notesMaster" Target="/ppt/notesMasters/notesMaster1.xml" Id="R0fd30aa1552244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b21bc50cc41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8002a1b3f84e48" /><Relationship Type="http://schemas.openxmlformats.org/officeDocument/2006/relationships/slideLayout" Target="/ppt/slideLayouts/slideLayout1.xml" Id="Reba3bafe2e6347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a3bafe2e6347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262b09b074ab4" /><Relationship Type="http://schemas.openxmlformats.org/officeDocument/2006/relationships/image" Target="/ppt/media/image.png" Id="R1f9f895197cd4295" /><Relationship Type="http://schemas.openxmlformats.org/officeDocument/2006/relationships/image" Target="/ppt/media/image2.png" Id="Reb4a988f50ce4e51" /><Relationship Type="http://schemas.openxmlformats.org/officeDocument/2006/relationships/notesSlide" Target="/ppt/notesSlides/notesSlide1.xml" Id="R8b6f11fef96c4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a374554aa4b73" /><Relationship Type="http://schemas.openxmlformats.org/officeDocument/2006/relationships/notesSlide" Target="/ppt/notesSlides/notesSlide2.xml" Id="R1f5edf39f0b4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a26b27b754407" /><Relationship Type="http://schemas.openxmlformats.org/officeDocument/2006/relationships/notesSlide" Target="/ppt/notesSlides/notesSlide3.xml" Id="R52b195cedf5a4e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bd3143ee147a2" /><Relationship Type="http://schemas.openxmlformats.org/officeDocument/2006/relationships/image" Target="/ppt/media/image3.png" Id="R2cea0c912ec844c9" /><Relationship Type="http://schemas.openxmlformats.org/officeDocument/2006/relationships/image" Target="/ppt/media/image4.png" Id="R1f8b4db879ba4ee4" /><Relationship Type="http://schemas.openxmlformats.org/officeDocument/2006/relationships/notesSlide" Target="/ppt/notesSlides/notesSlide4.xml" Id="Ra1e4ba6c5d064c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35ebe440d4789" /><Relationship Type="http://schemas.openxmlformats.org/officeDocument/2006/relationships/image" Target="/ppt/media/image5.png" Id="R3d6160c191c1450e" /><Relationship Type="http://schemas.openxmlformats.org/officeDocument/2006/relationships/notesSlide" Target="/ppt/notesSlides/notesSlide5.xml" Id="Rc7b03b05e05140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abb29dabe434c" /><Relationship Type="http://schemas.openxmlformats.org/officeDocument/2006/relationships/image" Target="/ppt/media/image6.png" Id="Rbcfb3461381141db" /><Relationship Type="http://schemas.openxmlformats.org/officeDocument/2006/relationships/notesSlide" Target="/ppt/notesSlides/notesSlide6.xml" Id="Re6be4dcadcb04d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e35c6853f4c1d" /><Relationship Type="http://schemas.openxmlformats.org/officeDocument/2006/relationships/image" Target="/ppt/media/image7.png" Id="Rb2c74acd166b4fbe" /><Relationship Type="http://schemas.openxmlformats.org/officeDocument/2006/relationships/notesSlide" Target="/ppt/notesSlides/notesSlide7.xml" Id="R78e559d601bd4b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6929a954f476d" /><Relationship Type="http://schemas.openxmlformats.org/officeDocument/2006/relationships/image" Target="/ppt/media/image8.png" Id="Rb9f9cc8c64cc4b5a" /><Relationship Type="http://schemas.openxmlformats.org/officeDocument/2006/relationships/notesSlide" Target="/ppt/notesSlides/notesSlide8.xml" Id="R298d76878f364b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0dca974ea473e" /><Relationship Type="http://schemas.openxmlformats.org/officeDocument/2006/relationships/notesSlide" Target="/ppt/notesSlides/notesSlide9.xml" Id="Rcb112cfff09746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EA836-E29A-460A-92F7-FB61FC98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F794E-C95D-4D80-99C4-82F21D2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81050"/>
            <a:ext cx="5334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f895197cd4295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838200"/>
            <a:ext cx="5219700" cy="2933700"/>
          </a:xfrm>
          <a:prstGeom xmlns:a="http://schemas.openxmlformats.org/drawingml/2006/main" prst="roundRect">
            <a:avLst>
              <a:gd name="adj" fmla="val 194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2B727-CCEC-4CEC-9AE5-92D1B223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67100"/>
            <a:ext cx="42100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a988f50ce4e51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3524250"/>
            <a:ext cx="4095750" cy="2305050"/>
          </a:xfrm>
          <a:prstGeom xmlns:a="http://schemas.openxmlformats.org/drawingml/2006/main" prst="roundRect">
            <a:avLst>
              <a:gd name="adj" fmla="val 24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EF598-1B6A-4F91-B692-A0CD6AF6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AGENTIC PAPER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A3ABA-7118-41C1-B1DA-497573B5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857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Agentic Paper Insight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研究决策工作台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72088-2FDC-4F43-A0DC-5EAFE75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432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面向 AI Agent / 网络自治研究，把 arXiv 增量同步、候选确认、证据评分、横向校准和发布输出串成可视化 Agentic 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01D78-A23C-40E1-8F20-855D4490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ADD3F-21DE-4EE1-9241-D007D5B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人机共控 / 全流程可视化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D277D-5A31-43BA-B902-E5DDDB2D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543C7-8D84-4E6A-A8AF-EDD90128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A98FC-DC41-4D84-BE9D-DCEBFDBF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51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49DE6-C4AD-4DFE-A944-7E5BEBE7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1BB44-B64C-47C9-BD86-E3F80951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真正难点是让研究判断可控、可见、不漂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4339D-D90C-446D-B512-C2C9A80A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3DCF9-AECF-41B0-AB60-19C7E3B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D13AA-626F-4C9F-86BD-36EB1B8E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911D6-6B08-44ED-9AF6-AD0F8119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周期性研究情报最容易出问题的地方不在生成文字，而在候选、评分和取舍。全自动会快，但容易把方向相关、证据薄弱和重复结果混在一起。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625EC-2DF6-46CC-A91E-E470E46E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400CD-7AB5-4907-9008-900ED2BB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痛点 1：最新性难保证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39D16-273F-4A58-934E-AC55C059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RSS 延迟、API 限流、重复记录和服务重启补同步，都会影响候选池的时间边界。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8B4CA-113F-4F16-9F75-C3636355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F01AD-7473-4620-A030-98C38D9C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痛点 2：候选口径会漂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8A619-32DB-4910-8CAB-F80F3ED0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同样叫 AI Agent / 网络自治，不同查询会拉来不同候选；没有确认环节，噪声会直接进入分析。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DFDFC-581E-4B43-9749-95600421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C062A-67B3-43EC-B281-BA79E469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痛点 3：评分容易被主题带偏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566D9-BCDA-4643-9D31-2105ECEF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方向契合不等于研究质量高。只看单篇摘要，容易把概念包装误判为高价值。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78153-40CB-4677-89C0-936D50D8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83432-DCFD-4FF7-8309-097DC74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痛点 4：全自动流程不可见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4BDC-1216-486F-AA02-12266100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长链路里一次错误会被后续放大。没有可视化状态和人工关口，就很难追问依据或中途纠偏。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F7747-034E-4554-B85B-C32FAA7E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设计取向：AI 批量处理和组织证据，人通过可视化流程把住候选、阈值、隐藏/推荐和最终发布。</a:t>
            </a:r>
          </a:p>
        </p:txBody>
      </p:sp>
    </p:spTree>
    <p:extLst>
      <p:ext uri="{BB962C8B-B14F-4D97-AF65-F5344CB8AC3E}">
        <p14:creationId xmlns:p14="http://schemas.microsoft.com/office/powerpoint/2010/main" val="949272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591D4-2D6B-4253-8112-F5BDCBE5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系统流程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6FBBD-6666-492C-A5A7-90E4C3AB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系统把研究判断串成可视化 Agentic 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35A0D-E1A4-4715-9AB0-7DBAE770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1546A-C483-4905-83F5-3EEFF8F2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A9875-02E2-4DA5-85A5-2560B93F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E6228-E8D7-4707-99E4-A2261428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B0DEA-65C1-4D8D-87F0-5F4781D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82429-3149-4E5B-8839-06D70FE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arXiv 同步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520C2-0772-4610-BA3E-535E3E39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RSS 自动入库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必要时 API 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EC952-2CDF-4A39-93CF-1A38700A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201C5-B9E4-41A2-9773-53B5BC1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9E7D2-6BD7-4F46-950E-5D5793CB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A4FC9-826F-4E1F-A3E4-8C2BCD07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设置查询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1EC79-8B6F-4580-9997-49FDAD19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点选或手输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定义本轮主题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39F12-7965-44A6-BF1F-CD18F61B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2A7C8-FC05-429D-BAF6-20EEBC30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19E6E-14C8-4D83-B405-21AE38FA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F41D4-2B87-4A23-BA6B-47A83674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确认候选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41B53-8748-4B14-800C-367364A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人工保留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要分析的论文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E3FB8-3058-45D0-9241-AECEDE98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19683-ED68-48FE-B51F-9787A34D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011B1-45E0-4DB0-8C15-671055A5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78AE7-4E50-4894-898F-14003137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AI 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D0714-B86E-48B7-8770-8FFCF928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四维评分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输出阅读建议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AB2CBA-CA00-48D7-B0F7-F66C6E44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26F8E-1E37-4565-B2EE-CFAF331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97386-B496-4B02-BB2F-DF84D4D3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FDD22-E4E1-4730-AB4A-3645CD24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推荐报告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1D131-9084-489C-B599-2DD1B3FF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推荐/隐藏/全部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可进详情页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A9526-CC9F-4FD0-8774-BCC06C37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F0DC56-CC36-46B2-97D2-9470D2EE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0DB5CB-C156-469E-9E52-FF82DE1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F054AC-2CD1-4FAD-9490-E180308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洞察输出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2593CB-3600-4DA4-95AD-5918413D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原文复评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生成 Markdown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79C38-FD75-4075-866E-248282E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两个关键控制点：候选进入 AI 前由人确认；进入阅读清单前可重新设置复评阈值和保底篇数。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50781B-53EE-4055-8CA9-54654CC8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这让推荐结果既能自动化，又保留研究团队对方向和质量的把关。</a:t>
            </a:r>
          </a:p>
        </p:txBody>
      </p:sp>
    </p:spTree>
    <p:extLst>
      <p:ext uri="{BB962C8B-B14F-4D97-AF65-F5344CB8AC3E}">
        <p14:creationId xmlns:p14="http://schemas.microsoft.com/office/powerpoint/2010/main" val="2123571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38267-BDDE-4791-956E-0AF78CF0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怎么用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A3E35-9C77-407C-AD75-0231C8B2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先配置 API 和查询口径，保证结果可控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C6786-27A2-4852-A9C1-ED2D557B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364EE-15B4-4399-A42D-0EB72C0A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6E587-0EAC-45D9-B8AB-AD951A13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DFB65-2703-4621-913B-E48BA4AE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544830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a0c912ec844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00200"/>
            <a:ext cx="5334000" cy="3000375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B58C4-BD30-40AD-8868-C32AF10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544830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b4db879ba4e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00200"/>
            <a:ext cx="5334000" cy="3000375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B53A0-3A56-4E94-9C61-71AB1206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API Key 只存当前浏览器会话，模型选择和 Key 管理集中在左上角设置。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1EB41-679D-4D59-AFBC-EF289F5C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查询条件支持点选和手工输入，适合把“默认主题”和“临时研究问题”分开管理。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50A07-F933-41DD-B37D-61B38204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推荐阈值、每轮候选数、最低达标数都在左侧控制，能适配扫读、重点跟踪和洞察输出三种强度。</a:t>
            </a:r>
          </a:p>
        </p:txBody>
      </p:sp>
    </p:spTree>
    <p:extLst>
      <p:ext uri="{BB962C8B-B14F-4D97-AF65-F5344CB8AC3E}">
        <p14:creationId xmlns:p14="http://schemas.microsoft.com/office/powerpoint/2010/main" val="8419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C7B71-5E9A-44E4-8493-DE998C7F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怎么用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50EA3-25AD-4E19-9C80-36B0731D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生成推荐列表时先确认候选，再交给 AI 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98520-A874-44DD-98E7-62561F7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E9EBB-2696-46B0-A716-ACB35969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033BF-BD71-41D6-8B89-39DE9271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6B70F-7CE8-4330-B65E-F3E98A7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08B96-FEE5-44B3-B5C1-819A131C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6C8A6-54D6-4210-B0D7-34F4B619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444A9-1BCE-410D-8E67-9570871E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获取候选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4CC2F-D6F9-457E-9601-E7CF93DE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从本地 arXiv 库读取，必要时用 arXiv API 扩展。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9932F-C6D5-494C-B354-2436E1BC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7001A-E702-46F5-9CB5-AA9EDC3E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2366B-A346-48FB-9C08-ACAED4E6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9566F-129C-445C-BA45-B648B9E3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确认论文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A07FD-1B4A-406B-8751-7B092AD3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取消明显不相关的候选，避免浪费模型调用。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58887-B0BD-4947-BBAB-1404AC53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9DFF9-5B03-4CFA-A3A1-7F56688B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AD18B-DBFF-428F-A938-889A9750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BB75D-21E2-4963-AED8-8BE45125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继续分析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7A29E-8CBE-44FF-8232-D639DDAE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分析失败可从当前论文重试，已成功项不重复调用。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DB84D-3C69-4922-8173-53644535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524000"/>
            <a:ext cx="77343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160c191c145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1581150"/>
            <a:ext cx="7620000" cy="4286250"/>
          </a:xfrm>
          <a:prstGeom xmlns:a="http://schemas.openxmlformats.org/drawingml/2006/main" prst="roundRect">
            <a:avLst>
              <a:gd name="adj" fmla="val 1333"/>
            </a:avLst>
          </a:prstGeom>
        </p:spPr>
      </p:pic>
    </p:spTree>
    <p:extLst>
      <p:ext uri="{BB962C8B-B14F-4D97-AF65-F5344CB8AC3E}">
        <p14:creationId xmlns:p14="http://schemas.microsoft.com/office/powerpoint/2010/main" val="1132887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039F0B-872E-4DD5-8B1C-C42B37A8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怎么用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B0380-9A04-4657-AA71-A023FCC9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推荐报告不只给分，还保留判断依据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5E1C9-3F05-498E-98D8-4B29A66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FD2BF-CF33-45E0-B54E-8D2BD39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9FD15-1ED5-4B8C-BCA3-75B2B925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C942E-2863-424F-B764-5E6D4F38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71600"/>
            <a:ext cx="8115300" cy="46101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b3461381141db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1428750"/>
            <a:ext cx="8001000" cy="4495800"/>
          </a:xfrm>
          <a:prstGeom xmlns:a="http://schemas.openxmlformats.org/drawingml/2006/main" prst="roundRect">
            <a:avLst>
              <a:gd name="adj" fmla="val 127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1DF3D-54E3-4031-AB95-369725B9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4AA1E-C023-4909-87EB-71CF59F0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EEFC7-84F6-48A8-A847-351C470D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推荐 / 隐藏 / 全部分析，低分论文不凑数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79A60-784D-4872-9847-B4EA576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50555-220A-4DC5-9F98-837B5249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70DD4-88F5-4600-B7A4-856EF8F0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问题 / 方法 / 系统 / 证据分开看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BC0FC-FB70-49BD-A231-FE422617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高分信号、命中关键词和候选来源一起展示，方便复核为什么这篇论文值得读。</a:t>
            </a:r>
          </a:p>
        </p:txBody>
      </p:sp>
    </p:spTree>
    <p:extLst>
      <p:ext uri="{BB962C8B-B14F-4D97-AF65-F5344CB8AC3E}">
        <p14:creationId xmlns:p14="http://schemas.microsoft.com/office/powerpoint/2010/main" val="2131414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B903F-4213-4691-ADB1-77CB180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怎么用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3AD35-C152-4EC5-9EB4-6A19F264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单篇详情帮助读者快速决定要不要深读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638D6-6C50-46FC-B7F6-F9E590AB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9DF6A-5D6E-406A-9D51-2542856D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21DE7-E8BE-434A-8A53-2357E4F3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4E352-AE5E-4AD0-BAF6-96F752A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71600"/>
            <a:ext cx="69532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74acd166b4fbe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1428750"/>
            <a:ext cx="6838950" cy="3848100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B9816-0CC1-4D3B-9FCB-C36BB206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方向适配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C78B6-A514-4CC8-A6C4-94FA7AE8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网络自治/电信、通用 AI、非目标领域分开校准。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5E932-169B-46C7-AD6E-AEE9DC5E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06B77-F25F-49AA-AAAF-2108912C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DAEFF-0E6C-4691-9708-A4423B9E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764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快速看论文解决的痛点是否和本周主题一致。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E87CF-522E-4FD8-9787-CFFCEC15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7B21A-2218-474B-B8C4-C0F79110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方法与技术路线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1943F-4854-43D9-A759-04EC736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90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关注机制、工具调用、闭环和系统边界。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85C54-B862-48D7-9CD7-524415A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CC794-8BE6-4DCB-AD40-A90DA128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贡献与证据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95573-4DD3-4C4A-8DAC-29450B0A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052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核验实验、基线、消融和结论边界。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1AA38-7FD3-4279-8889-66B1A763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ED598-11F4-49A2-83BB-125D869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价值与局限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3B13A-A40E-4A57-83CC-C42D015F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9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判断是否精读、复现或写入洞察稿</a:t>
            </a:r>
          </a:p>
        </p:txBody>
      </p:sp>
    </p:spTree>
    <p:extLst>
      <p:ext uri="{BB962C8B-B14F-4D97-AF65-F5344CB8AC3E}">
        <p14:creationId xmlns:p14="http://schemas.microsoft.com/office/powerpoint/2010/main" val="88666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16AD9-317D-416F-A23E-C022124B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发布输出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257B9-A6C8-44CC-8794-01019A66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一键把研究判断整理成可发布阅读清单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8DC62-D4B3-46F6-A31A-F6F10323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4E9FE-EF72-4D0A-BFB6-F77F1F3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EB427-0899-4BFC-9BEF-3F93FB9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61521-7826-4944-9810-2912CE5A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71600"/>
            <a:ext cx="77343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9cc8c64cc4b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428750"/>
            <a:ext cx="7620000" cy="4286250"/>
          </a:xfrm>
          <a:prstGeom xmlns:a="http://schemas.openxmlformats.org/drawingml/2006/main" prst="roundRect">
            <a:avLst>
              <a:gd name="adj" fmla="val 1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C4330-01B8-405F-A577-8B301BCA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639AE-364B-4360-943C-9F7F0A07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原文复评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C4151-06AA-4F4F-8BAE-BC754A1B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优先抓取 arXiv HTML 原文，失败时可降级为摘要和已有分析。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CBC59-19A6-4C40-82D0-C51620E2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A5047-0AB3-4CEA-A99C-0CD69E8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阈值可调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FD470-FBD0-4B18-BE05-70C9694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复评候选下限、入选阈值、保底篇数都能单独设置。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1CF7A-AE50-4A7F-955A-C0B6BA4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43EC-F071-430D-893B-1AC5947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直接发布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273AB-74C4-4933-821C-FFB448DB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生成 Markdown 后可复制或下载，适配洞察网站发布流程。</a:t>
            </a:r>
          </a:p>
        </p:txBody>
      </p:sp>
    </p:spTree>
    <p:extLst>
      <p:ext uri="{BB962C8B-B14F-4D97-AF65-F5344CB8AC3E}">
        <p14:creationId xmlns:p14="http://schemas.microsoft.com/office/powerpoint/2010/main" val="713245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92A58-3285-4A8C-ADC1-1DFC0863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优势在哪里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B399A-F32B-4D71-94CA-F20DE4D1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优势来自可视化的人机共控 Agentic 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EC11-2431-4C5B-AC72-D3370BFE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61DA6-F18D-4DAB-ABB1-A364D406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00B73-E5BF-42B6-87FD-7E9E2666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79A76-0066-4A34-82B2-C8DF81B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把研究跟踪拆成可见、可控、可恢复的关口：机器负责同步、提取、评分和成稿，人负责方向、边界和最终判断。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EA8E9-775D-4538-B4DF-3F1EBD1C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20B00-E8AA-4728-BD35-A2988C7B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 1：全流程可视化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9B862-1782-490C-9665-B6EFF386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候选、确认、AI 分析、分数、详情和发布结果连续呈现，人能看见 Agent 走到哪一步、为什么这样判断。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ABC3D-08DA-4DC4-9EBA-8E75EEB2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CCEA6-AAA5-4A0D-9A02-99D20982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 2：人工参与是设计亮点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5F2A8-7BF2-4BAA-9D8C-E5737231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候选确认、阈值调整、隐藏/推荐和阅读清单发布都留给人决策；Agent Loop 提供证据和建议。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63AC2-8683-4337-BF16-FBDCC28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63E78-C8A5-4070-A114-32900ED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 3：评分和横向校准更硬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2C427-E74C-4AEA-81FB-E85648C2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四维质量评分与兴趣适配分离，同批候选再比较新意、证据和系统价值，避免“方向像”替代“质量高”。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0BC04-A982-4BE7-98B8-D815BD2F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4CEBD-334A-4CEA-B0C6-BA2559A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 4：长链路更稳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9A6D4-6B4A-4B2D-8BC9-4CBAFB30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增量同步、请求队列、429 冷却、失败续跑和 fallback 保底，让 Agentic 流程可恢复、可追踪。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B96A3-733F-42E3-A6BC-59FE66EA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839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F5F82-81D9-4C06-8229-C3410F0B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Agentic 价值 = AI 扩展处理半径 + 全流程可视化 + 人在关键关口接管。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系统不是替人做最终判断，而是把判断依据准备到足够清楚。</a:t>
            </a:r>
          </a:p>
        </p:txBody>
      </p:sp>
    </p:spTree>
    <p:extLst>
      <p:ext uri="{BB962C8B-B14F-4D97-AF65-F5344CB8AC3E}">
        <p14:creationId xmlns:p14="http://schemas.microsoft.com/office/powerpoint/2010/main" val="1978064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2026-07-25T03:33:21.7940000Z</dcterms:created>
  <dcterms:modified xsi:type="dcterms:W3CDTF">2026-07-25T03:33:21.7940000Z</dcterms:modified>
</coreProperties>
</file>